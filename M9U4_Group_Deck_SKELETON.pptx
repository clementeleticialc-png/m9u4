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47" d="100"/>
          <a:sy n="147" d="100"/>
        </p:scale>
        <p:origin x="2922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tícia Cristovam Clemente" userId="774fefebd63038da" providerId="LiveId" clId="{4ADDCF5B-468D-4F8E-8F27-BE5B6B05842F}"/>
    <pc:docChg chg="undo custSel modSld">
      <pc:chgData name="Letícia Cristovam Clemente" userId="774fefebd63038da" providerId="LiveId" clId="{4ADDCF5B-468D-4F8E-8F27-BE5B6B05842F}" dt="2026-09-25T19:03:02.326" v="34" actId="22"/>
      <pc:docMkLst>
        <pc:docMk/>
      </pc:docMkLst>
      <pc:sldChg chg="addSp delSp modSp mod modNotesTx">
        <pc:chgData name="Letícia Cristovam Clemente" userId="774fefebd63038da" providerId="LiveId" clId="{4ADDCF5B-468D-4F8E-8F27-BE5B6B05842F}" dt="2026-09-25T19:01:13.085" v="13" actId="1582"/>
        <pc:sldMkLst>
          <pc:docMk/>
          <pc:sldMk cId="0" sldId="256"/>
        </pc:sldMkLst>
        <pc:spChg chg="del">
          <ac:chgData name="Letícia Cristovam Clemente" userId="774fefebd63038da" providerId="LiveId" clId="{4ADDCF5B-468D-4F8E-8F27-BE5B6B05842F}" dt="2026-09-25T18:58:57.740" v="0" actId="478"/>
          <ac:spMkLst>
            <pc:docMk/>
            <pc:sldMk cId="0" sldId="256"/>
            <ac:spMk id="17" creationId="{00000000-0000-0000-0000-000000000000}"/>
          </ac:spMkLst>
        </pc:spChg>
        <pc:spChg chg="add mod">
          <ac:chgData name="Letícia Cristovam Clemente" userId="774fefebd63038da" providerId="LiveId" clId="{4ADDCF5B-468D-4F8E-8F27-BE5B6B05842F}" dt="2026-09-25T19:01:13.085" v="13" actId="1582"/>
          <ac:spMkLst>
            <pc:docMk/>
            <pc:sldMk cId="0" sldId="256"/>
            <ac:spMk id="17" creationId="{BDE177F8-BAE3-45B8-C321-F8826770AC40}"/>
          </ac:spMkLst>
        </pc:spChg>
      </pc:sldChg>
      <pc:sldChg chg="addSp delSp modSp mod modNotesTx">
        <pc:chgData name="Letícia Cristovam Clemente" userId="774fefebd63038da" providerId="LiveId" clId="{4ADDCF5B-468D-4F8E-8F27-BE5B6B05842F}" dt="2026-09-25T19:01:27.124" v="17" actId="1076"/>
        <pc:sldMkLst>
          <pc:docMk/>
          <pc:sldMk cId="0" sldId="257"/>
        </pc:sldMkLst>
        <pc:spChg chg="del">
          <ac:chgData name="Letícia Cristovam Clemente" userId="774fefebd63038da" providerId="LiveId" clId="{4ADDCF5B-468D-4F8E-8F27-BE5B6B05842F}" dt="2026-09-25T18:59:59.091" v="7" actId="478"/>
          <ac:spMkLst>
            <pc:docMk/>
            <pc:sldMk cId="0" sldId="257"/>
            <ac:spMk id="21" creationId="{00000000-0000-0000-0000-000000000000}"/>
          </ac:spMkLst>
        </pc:spChg>
        <pc:spChg chg="add mod">
          <ac:chgData name="Letícia Cristovam Clemente" userId="774fefebd63038da" providerId="LiveId" clId="{4ADDCF5B-468D-4F8E-8F27-BE5B6B05842F}" dt="2026-09-25T19:01:27.124" v="17" actId="1076"/>
          <ac:spMkLst>
            <pc:docMk/>
            <pc:sldMk cId="0" sldId="257"/>
            <ac:spMk id="22" creationId="{8A4D4282-2352-BE47-9347-BC2899098DE7}"/>
          </ac:spMkLst>
        </pc:spChg>
        <pc:picChg chg="mod">
          <ac:chgData name="Letícia Cristovam Clemente" userId="774fefebd63038da" providerId="LiveId" clId="{4ADDCF5B-468D-4F8E-8F27-BE5B6B05842F}" dt="2026-09-25T19:01:23.516" v="16" actId="1076"/>
          <ac:picMkLst>
            <pc:docMk/>
            <pc:sldMk cId="0" sldId="257"/>
            <ac:picMk id="4" creationId="{00000000-0000-0000-0000-000000000000}"/>
          </ac:picMkLst>
        </pc:picChg>
      </pc:sldChg>
      <pc:sldChg chg="addSp delSp modSp mod modNotesTx">
        <pc:chgData name="Letícia Cristovam Clemente" userId="774fefebd63038da" providerId="LiveId" clId="{4ADDCF5B-468D-4F8E-8F27-BE5B6B05842F}" dt="2026-09-25T19:01:51.159" v="23" actId="1076"/>
        <pc:sldMkLst>
          <pc:docMk/>
          <pc:sldMk cId="0" sldId="258"/>
        </pc:sldMkLst>
        <pc:spChg chg="del">
          <ac:chgData name="Letícia Cristovam Clemente" userId="774fefebd63038da" providerId="LiveId" clId="{4ADDCF5B-468D-4F8E-8F27-BE5B6B05842F}" dt="2026-09-25T18:59:52.260" v="6" actId="478"/>
          <ac:spMkLst>
            <pc:docMk/>
            <pc:sldMk cId="0" sldId="258"/>
            <ac:spMk id="7" creationId="{00000000-0000-0000-0000-000000000000}"/>
          </ac:spMkLst>
        </pc:spChg>
        <pc:spChg chg="add mod">
          <ac:chgData name="Letícia Cristovam Clemente" userId="774fefebd63038da" providerId="LiveId" clId="{4ADDCF5B-468D-4F8E-8F27-BE5B6B05842F}" dt="2026-09-25T19:01:40.310" v="19" actId="1076"/>
          <ac:spMkLst>
            <pc:docMk/>
            <pc:sldMk cId="0" sldId="258"/>
            <ac:spMk id="8" creationId="{F11BF28C-A317-19A3-5653-E1C70D6E8046}"/>
          </ac:spMkLst>
        </pc:spChg>
        <pc:spChg chg="add mod">
          <ac:chgData name="Letícia Cristovam Clemente" userId="774fefebd63038da" providerId="LiveId" clId="{4ADDCF5B-468D-4F8E-8F27-BE5B6B05842F}" dt="2026-09-25T19:01:51.159" v="23" actId="1076"/>
          <ac:spMkLst>
            <pc:docMk/>
            <pc:sldMk cId="0" sldId="258"/>
            <ac:spMk id="10" creationId="{60B72BD4-824D-561B-AF97-1AE0669DC8DA}"/>
          </ac:spMkLst>
        </pc:spChg>
      </pc:sldChg>
      <pc:sldChg chg="addSp modSp mod">
        <pc:chgData name="Letícia Cristovam Clemente" userId="774fefebd63038da" providerId="LiveId" clId="{4ADDCF5B-468D-4F8E-8F27-BE5B6B05842F}" dt="2026-09-25T19:02:05.038" v="27" actId="14100"/>
        <pc:sldMkLst>
          <pc:docMk/>
          <pc:sldMk cId="0" sldId="259"/>
        </pc:sldMkLst>
        <pc:spChg chg="add mod">
          <ac:chgData name="Letícia Cristovam Clemente" userId="774fefebd63038da" providerId="LiveId" clId="{4ADDCF5B-468D-4F8E-8F27-BE5B6B05842F}" dt="2026-09-25T19:02:05.038" v="27" actId="14100"/>
          <ac:spMkLst>
            <pc:docMk/>
            <pc:sldMk cId="0" sldId="259"/>
            <ac:spMk id="15" creationId="{E30309A5-0B87-0A5A-0DE7-D94020459E33}"/>
          </ac:spMkLst>
        </pc:spChg>
      </pc:sldChg>
      <pc:sldChg chg="addSp modSp mod">
        <pc:chgData name="Letícia Cristovam Clemente" userId="774fefebd63038da" providerId="LiveId" clId="{4ADDCF5B-468D-4F8E-8F27-BE5B6B05842F}" dt="2026-09-25T19:02:39.019" v="32" actId="14100"/>
        <pc:sldMkLst>
          <pc:docMk/>
          <pc:sldMk cId="0" sldId="260"/>
        </pc:sldMkLst>
        <pc:spChg chg="add mod">
          <ac:chgData name="Letícia Cristovam Clemente" userId="774fefebd63038da" providerId="LiveId" clId="{4ADDCF5B-468D-4F8E-8F27-BE5B6B05842F}" dt="2026-09-25T19:02:39.019" v="32" actId="14100"/>
          <ac:spMkLst>
            <pc:docMk/>
            <pc:sldMk cId="0" sldId="260"/>
            <ac:spMk id="15" creationId="{F1C27929-F08F-DD84-E945-D7EF7B7B8F2F}"/>
          </ac:spMkLst>
        </pc:spChg>
      </pc:sldChg>
      <pc:sldChg chg="addSp mod">
        <pc:chgData name="Letícia Cristovam Clemente" userId="774fefebd63038da" providerId="LiveId" clId="{4ADDCF5B-468D-4F8E-8F27-BE5B6B05842F}" dt="2026-09-25T19:02:49.544" v="33" actId="22"/>
        <pc:sldMkLst>
          <pc:docMk/>
          <pc:sldMk cId="0" sldId="261"/>
        </pc:sldMkLst>
        <pc:spChg chg="add">
          <ac:chgData name="Letícia Cristovam Clemente" userId="774fefebd63038da" providerId="LiveId" clId="{4ADDCF5B-468D-4F8E-8F27-BE5B6B05842F}" dt="2026-09-25T19:02:49.544" v="33" actId="22"/>
          <ac:spMkLst>
            <pc:docMk/>
            <pc:sldMk cId="0" sldId="261"/>
            <ac:spMk id="10" creationId="{E38BC63D-CF0C-C455-AB1B-5F163E8B8B42}"/>
          </ac:spMkLst>
        </pc:spChg>
      </pc:sldChg>
      <pc:sldChg chg="addSp mod">
        <pc:chgData name="Letícia Cristovam Clemente" userId="774fefebd63038da" providerId="LiveId" clId="{4ADDCF5B-468D-4F8E-8F27-BE5B6B05842F}" dt="2026-09-25T19:03:02.326" v="34" actId="22"/>
        <pc:sldMkLst>
          <pc:docMk/>
          <pc:sldMk cId="0" sldId="262"/>
        </pc:sldMkLst>
        <pc:spChg chg="add">
          <ac:chgData name="Letícia Cristovam Clemente" userId="774fefebd63038da" providerId="LiveId" clId="{4ADDCF5B-468D-4F8E-8F27-BE5B6B05842F}" dt="2026-09-25T19:03:02.326" v="34" actId="22"/>
          <ac:spMkLst>
            <pc:docMk/>
            <pc:sldMk cId="0" sldId="262"/>
            <ac:spMk id="18" creationId="{09F3D002-7FE1-5EFD-9B81-32CCFF0010F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05784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Site boundary GeoJSON is in the M9U4 Group folder (import into Forma; fallback is drawing the boundary). Confirm which analyses the licence offers and whether Forma has building/terrain context for Christchurch. Avoid adding housing inside the High Flood Hazard band.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brief requires: one of SDGs/ESG, Carbon KPIs, and one of LEED/BREEAM. Do not drop the framework row even if the numbers are thin. Before/after values must come from a tool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Gaps are taken from Shane's README ('Honest gaps'). Naming the instrument, the verifier and the gap per indicator was suggested by Shane's assistant from the lecturer's slides; check that deck before relying on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4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7406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7FD1DB"/>
                </a:solidFill>
                <a:latin typeface="Calibri"/>
              </a:rPr>
              <a:t>M9U4 · RESILIENT NEIGHBOURHOOD STRATEGY · CLIENT BRIEFING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74066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mbria"/>
              </a:rPr>
              <a:t>Keeping South New Brighton connected: where should Christchurch invest first?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74519"/>
            <a:ext cx="1234440" cy="457200"/>
          </a:xfrm>
          <a:prstGeom prst="roundRect">
            <a:avLst>
              <a:gd name="adj" fmla="val 6000"/>
            </a:avLst>
          </a:prstGeom>
          <a:solidFill>
            <a:srgbClr val="C2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12344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SHOCK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1847088"/>
            <a:ext cx="53949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Coastal and estuary inundation: CCC Flood Hazard High band (1-in-500-year, risk to life).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926079"/>
            <a:ext cx="1234440" cy="457200"/>
          </a:xfrm>
          <a:prstGeom prst="roundRect">
            <a:avLst>
              <a:gd name="adj" fmla="val 6000"/>
            </a:avLst>
          </a:prstGeom>
          <a:solidFill>
            <a:srgbClr val="E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2926079"/>
            <a:ext cx="12344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STRESS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2898648"/>
            <a:ext cx="53949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Sea-level rise: CCC classes the surrounding land as a Flood Management Area vulnerable to 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977639"/>
            <a:ext cx="1234440" cy="457200"/>
          </a:xfrm>
          <a:prstGeom prst="roundRect">
            <a:avLst>
              <a:gd name="adj" fmla="val 6000"/>
            </a:avLst>
          </a:prstGeom>
          <a:solidFill>
            <a:srgbClr val="6A1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3977639"/>
            <a:ext cx="12344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EXPOSED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3950207"/>
            <a:ext cx="53949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Residents inside the District Plan High Flood Hazard overlay, and primary-school children on a spit with one road out.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166360"/>
            <a:ext cx="6812280" cy="960120"/>
          </a:xfrm>
          <a:prstGeom prst="roundRect">
            <a:avLst>
              <a:gd name="adj" fmla="val 6000"/>
            </a:avLst>
          </a:prstGeom>
          <a:solidFill>
            <a:srgbClr val="223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5230368"/>
            <a:ext cx="64008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7FD1DB"/>
                </a:solidFill>
                <a:latin typeface="Calibri"/>
              </a:rPr>
              <a:t>Client (proposed, confirm):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Christchurch City Council</a:t>
            </a:r>
          </a:p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7FD1DB"/>
                </a:solidFill>
                <a:latin typeface="Calibri"/>
              </a:rPr>
              <a:t>Decision we support: </a:t>
            </a:r>
            <a:r>
              <a:rPr sz="1400" b="0" i="1">
                <a:solidFill>
                  <a:srgbClr val="FFD99A"/>
                </a:solidFill>
                <a:latin typeface="Calibri"/>
              </a:rPr>
              <a:t>[one sentence: which intervention to prioritise, and why]</a:t>
            </a:r>
          </a:p>
        </p:txBody>
      </p:sp>
      <p:pic>
        <p:nvPicPr>
          <p:cNvPr id="15" name="Picture 14" descr="map_spi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457200"/>
            <a:ext cx="3504646" cy="56692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275320" y="617220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A9B6C4"/>
                </a:solidFill>
                <a:latin typeface="Calibri"/>
              </a:rPr>
              <a:t>South New Brighton / Southshore spit. Source: CCC Open Data, ArcGIS Online.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DE177F8-BAE3-45B8-C321-F8826770AC40}"/>
              </a:ext>
            </a:extLst>
          </p:cNvPr>
          <p:cNvSpPr/>
          <p:nvPr/>
        </p:nvSpPr>
        <p:spPr>
          <a:xfrm>
            <a:off x="2289243" y="5201379"/>
            <a:ext cx="4286656" cy="1264596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F7C8A"/>
                </a:solidFill>
                <a:latin typeface="Calibri"/>
              </a:rPr>
              <a:t>SLIDE 2 · ARCGIS ONLINE DIAGNOSIS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4243B"/>
                </a:solidFill>
                <a:latin typeface="Cambria"/>
              </a:rPr>
              <a:t>Diagnosis: who can walk to a school, and what floods first</a:t>
            </a:r>
          </a:p>
        </p:txBody>
      </p:sp>
      <p:pic>
        <p:nvPicPr>
          <p:cNvPr id="4" name="Picture 3" descr="map_ful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6309360" cy="4810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217920"/>
            <a:ext cx="65836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Calibri"/>
              </a:rPr>
              <a:t>Source: ArcGIS Online web map (M9U4 South New Brighton Resilience Diagnosis); CCC District Plan; MoE schools directory.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137160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F7C8A"/>
                </a:solidFill>
                <a:latin typeface="Calibri"/>
              </a:rPr>
              <a:t>LEGEND</a:t>
            </a:r>
          </a:p>
        </p:txBody>
      </p:sp>
      <p:sp>
        <p:nvSpPr>
          <p:cNvPr id="7" name="Oval 6"/>
          <p:cNvSpPr/>
          <p:nvPr/>
        </p:nvSpPr>
        <p:spPr>
          <a:xfrm>
            <a:off x="7498079" y="1719072"/>
            <a:ext cx="201168" cy="201168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18119" y="1691640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School (MoE directory, 13 east Christchurch schools)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79" y="2029967"/>
            <a:ext cx="201168" cy="201168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18119" y="2002536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10-minute walk catchment to school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79" y="2340863"/>
            <a:ext cx="201168" cy="201168"/>
          </a:xfrm>
          <a:prstGeom prst="rect">
            <a:avLst/>
          </a:prstGeom>
          <a:solidFill>
            <a:srgbClr val="C2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18119" y="2313432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Flood Hazard High (1-in-500-yr, risk to life)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79" y="2651759"/>
            <a:ext cx="201168" cy="201168"/>
          </a:xfrm>
          <a:prstGeom prst="rect">
            <a:avLst/>
          </a:prstGeom>
          <a:solidFill>
            <a:srgbClr val="E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18119" y="2624327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Flood Management Area (tidal / rainfall, SLR-vulnerable)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79" y="2962655"/>
            <a:ext cx="201168" cy="201168"/>
          </a:xfrm>
          <a:prstGeom prst="rect">
            <a:avLst/>
          </a:prstGeom>
          <a:solidFill>
            <a:srgbClr val="6A1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18119" y="2935223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District Plan High Flood Hazard Residential Overlay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3401568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F7C8A"/>
                </a:solidFill>
                <a:latin typeface="Calibri"/>
              </a:rPr>
              <a:t>WHAT THE MAP SHOWS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3685032"/>
            <a:ext cx="42062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Only South New Brighton School sits on the spit. [Verify with a number: share of overlay dwellings inside a 10-minute walk.]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The catchments were computed without flood barriers, so we read this as exposure, not proven severance.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4983480"/>
            <a:ext cx="4206240" cy="1234440"/>
          </a:xfrm>
          <a:prstGeom prst="roundRect">
            <a:avLst>
              <a:gd name="adj" fmla="val 6000"/>
            </a:avLst>
          </a:prstGeom>
          <a:solidFill>
            <a:srgbClr val="F1F5F8"/>
          </a:solidFill>
          <a:ln w="12700">
            <a:solidFill>
              <a:srgbClr val="6B778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80959" y="5074920"/>
            <a:ext cx="3840479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 dirty="0">
                <a:solidFill>
                  <a:srgbClr val="1F2A37"/>
                </a:solidFill>
                <a:latin typeface="Calibri"/>
              </a:rPr>
              <a:t>AI prompting evidence</a:t>
            </a:r>
          </a:p>
          <a:p>
            <a:pPr algn="ctr">
              <a:spcAft>
                <a:spcPts val="400"/>
              </a:spcAft>
            </a:pPr>
            <a:r>
              <a:rPr sz="1100" b="0" i="1" dirty="0">
                <a:solidFill>
                  <a:srgbClr val="6B7785"/>
                </a:solidFill>
                <a:latin typeface="Calibri"/>
              </a:rPr>
              <a:t>[2–3 prompt screenshots + one line on how each changed the diagnosis. Shane]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A4D4282-2352-BE47-9347-BC2899098DE7}"/>
              </a:ext>
            </a:extLst>
          </p:cNvPr>
          <p:cNvSpPr/>
          <p:nvPr/>
        </p:nvSpPr>
        <p:spPr>
          <a:xfrm>
            <a:off x="7598663" y="5024433"/>
            <a:ext cx="4286656" cy="1264596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F7C8A"/>
                </a:solidFill>
                <a:latin typeface="Calibri"/>
              </a:rPr>
              <a:t>SLIDE 3 · PRIORITY CHALLENGE AND INDICATORS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4243B"/>
                </a:solidFill>
                <a:latin typeface="Cambria"/>
              </a:rPr>
              <a:t>One priority challenge: flood-severed access on a one-road-out spit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11064240" cy="3017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Indicator</a:t>
                      </a:r>
                    </a:p>
                  </a:txBody>
                  <a:tcPr anchor="ctr">
                    <a:solidFill>
                      <a:srgbClr val="14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Threshold</a:t>
                      </a:r>
                    </a:p>
                  </a:txBody>
                  <a:tcPr anchor="ctr">
                    <a:solidFill>
                      <a:srgbClr val="14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anchor="ctr">
                    <a:solidFill>
                      <a:srgbClr val="14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Baseline</a:t>
                      </a:r>
                    </a:p>
                  </a:txBody>
                  <a:tcPr anchor="ctr">
                    <a:solidFill>
                      <a:srgbClr val="14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anchor="ctr">
                    <a:solidFill>
                      <a:srgbClr val="1424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F2A37"/>
                          </a:solidFill>
                          <a:latin typeface="Calibri"/>
                        </a:rPr>
                        <a:t>% of overlay dwellings within a 10-minute walk of a school that does not cross Flood Hazard 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2A37"/>
                          </a:solidFill>
                          <a:latin typeface="Calibri"/>
                        </a:rPr>
                        <a:t>≥ 80%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2A37"/>
                          </a:solidFill>
                          <a:latin typeface="Calibri"/>
                        </a:rPr>
                        <a:t>CCC Community Board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1">
                          <a:solidFill>
                            <a:srgbClr val="8A5500"/>
                          </a:solidFill>
                          <a:latin typeface="Calibri"/>
                        </a:rPr>
                        <a:t>[compute]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2A37"/>
                          </a:solidFill>
                          <a:latin typeface="Calibri"/>
                        </a:rPr>
                        <a:t>ArcGIS + dwelling data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F2A37"/>
                          </a:solidFill>
                          <a:latin typeface="Calibri"/>
                        </a:rPr>
                        <a:t>Independent road exits from the spit passable in a 1-in-100 tidal event</a:t>
                      </a:r>
                    </a:p>
                  </a:txBody>
                  <a:tcPr anchor="ctr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2A37"/>
                          </a:solidFill>
                          <a:latin typeface="Calibri"/>
                        </a:rPr>
                        <a:t>≥ 2</a:t>
                      </a:r>
                    </a:p>
                  </a:txBody>
                  <a:tcPr anchor="ctr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2A37"/>
                          </a:solidFill>
                          <a:latin typeface="Calibri"/>
                        </a:rPr>
                        <a:t>CCC Transport / Waka Kotahi</a:t>
                      </a:r>
                    </a:p>
                  </a:txBody>
                  <a:tcPr anchor="ctr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1">
                          <a:solidFill>
                            <a:srgbClr val="8A5500"/>
                          </a:solidFill>
                          <a:latin typeface="Calibri"/>
                        </a:rPr>
                        <a:t>[compute]</a:t>
                      </a:r>
                    </a:p>
                  </a:txBody>
                  <a:tcPr anchor="ctr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2A37"/>
                          </a:solidFill>
                          <a:latin typeface="Calibri"/>
                        </a:rPr>
                        <a:t>CCC flood layers</a:t>
                      </a:r>
                    </a:p>
                  </a:txBody>
                  <a:tcPr anchor="ctr">
                    <a:solidFill>
                      <a:srgbClr val="F1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F2A37"/>
                          </a:solidFill>
                          <a:latin typeface="Calibri"/>
                        </a:rPr>
                        <a:t>Minutes on foot from Southshore Reserve to the Bridge St / Pages Rd junction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2A37"/>
                          </a:solidFill>
                          <a:latin typeface="Calibri"/>
                        </a:rPr>
                        <a:t>≤ 15 min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2A37"/>
                          </a:solidFill>
                          <a:latin typeface="Calibri"/>
                        </a:rPr>
                        <a:t>Canterbury CDEM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1">
                          <a:solidFill>
                            <a:srgbClr val="8A5500"/>
                          </a:solidFill>
                          <a:latin typeface="Calibri"/>
                        </a:rPr>
                        <a:t>[route run]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2A37"/>
                          </a:solidFill>
                          <a:latin typeface="Calibri"/>
                        </a:rPr>
                        <a:t>ArcGIS route analysis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8640" y="4892040"/>
            <a:ext cx="11064240" cy="1234440"/>
          </a:xfrm>
          <a:prstGeom prst="roundRect">
            <a:avLst>
              <a:gd name="adj" fmla="val 6000"/>
            </a:avLst>
          </a:prstGeom>
          <a:solidFill>
            <a:srgbClr val="FFF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4956048"/>
            <a:ext cx="1060704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8A5500"/>
                </a:solidFill>
                <a:latin typeface="Calibri"/>
              </a:rPr>
              <a:t>Check before this slide is final: 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C4300"/>
                </a:solidFill>
                <a:latin typeface="Calibri"/>
              </a:rPr>
              <a:t>Every indicator needs a computed baseline, or slide 5 has nothing to improve. The spit is roughly 2.7 km long, so a 15-minute walk cannot reach the far end: either the baseline shapes the intervention (a refuge or hub mid-spit) or the threshold is revised. Dwelling counts need a real source (e.g. LINZ building outlines or Census).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11BF28C-A317-19A3-5653-E1C70D6E8046}"/>
              </a:ext>
            </a:extLst>
          </p:cNvPr>
          <p:cNvSpPr/>
          <p:nvPr/>
        </p:nvSpPr>
        <p:spPr>
          <a:xfrm>
            <a:off x="145915" y="4788732"/>
            <a:ext cx="4286656" cy="1264596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0B72BD4-824D-561B-AF97-1AE0669DC8DA}"/>
              </a:ext>
            </a:extLst>
          </p:cNvPr>
          <p:cNvSpPr/>
          <p:nvPr/>
        </p:nvSpPr>
        <p:spPr>
          <a:xfrm rot="5400000">
            <a:off x="6848272" y="2242550"/>
            <a:ext cx="4286656" cy="1264596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F7C8A"/>
                </a:solidFill>
                <a:latin typeface="Calibri"/>
              </a:rPr>
              <a:t>SLIDE 4 · AUTODESK FORMA SITE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4243B"/>
                </a:solidFill>
                <a:latin typeface="Cambria"/>
              </a:rPr>
              <a:t>Forma test: [name the intervention]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3840480" cy="3063240"/>
          </a:xfrm>
          <a:prstGeom prst="roundRect">
            <a:avLst>
              <a:gd name="adj" fmla="val 6000"/>
            </a:avLst>
          </a:prstGeom>
          <a:solidFill>
            <a:srgbClr val="F1F5F8"/>
          </a:solidFill>
          <a:ln w="12700">
            <a:solidFill>
              <a:srgbClr val="6B778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3474720" cy="2880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1F2A37"/>
                </a:solidFill>
                <a:latin typeface="Calibri"/>
              </a:rPr>
              <a:t>BASELINE</a:t>
            </a:r>
          </a:p>
          <a:p>
            <a:pPr algn="ctr">
              <a:spcAft>
                <a:spcPts val="400"/>
              </a:spcAft>
            </a:pPr>
            <a:r>
              <a:rPr sz="1100" b="0" i="1">
                <a:solidFill>
                  <a:srgbClr val="6B7785"/>
                </a:solidFill>
                <a:latin typeface="Calibri"/>
              </a:rPr>
              <a:t>[Forma view of the sub-site as it is today]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463040"/>
            <a:ext cx="3840480" cy="3063240"/>
          </a:xfrm>
          <a:prstGeom prst="roundRect">
            <a:avLst>
              <a:gd name="adj" fmla="val 6000"/>
            </a:avLst>
          </a:prstGeom>
          <a:solidFill>
            <a:srgbClr val="F1F5F8"/>
          </a:solidFill>
          <a:ln w="12700">
            <a:solidFill>
              <a:srgbClr val="6B778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754880" y="1554480"/>
            <a:ext cx="3474720" cy="2880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1F2A37"/>
                </a:solidFill>
                <a:latin typeface="Calibri"/>
              </a:rPr>
              <a:t>OPTION A</a:t>
            </a:r>
          </a:p>
          <a:p>
            <a:pPr algn="ctr">
              <a:spcAft>
                <a:spcPts val="400"/>
              </a:spcAft>
            </a:pPr>
            <a:r>
              <a:rPr sz="1100" b="0" i="1">
                <a:solidFill>
                  <a:srgbClr val="6B7785"/>
                </a:solidFill>
                <a:latin typeface="Calibri"/>
              </a:rPr>
              <a:t>[Forma view with the intervention, from site automation]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663440"/>
            <a:ext cx="7863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8A5500"/>
                </a:solidFill>
                <a:latin typeface="Calibri"/>
              </a:rPr>
              <a:t>[One line: what changed between the two, and why it answers the priority challenge]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146304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F7C8A"/>
                </a:solidFill>
                <a:latin typeface="Calibri"/>
              </a:rPr>
              <a:t>WHAT WE TESTED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1783080"/>
            <a:ext cx="292608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Sub-site: [about a 200 m block, not the whole 1 km² strip]</a:t>
            </a:r>
          </a:p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Site automation: [settings / prompt used]</a:t>
            </a:r>
          </a:p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Forma analyses run: [e.g. sun, wind, microclimate, carbon: whatever the licence offers]</a:t>
            </a:r>
          </a:p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Flood logic comes from the District Plan hazard bands, not from Forma.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074920"/>
            <a:ext cx="11064240" cy="1097280"/>
          </a:xfrm>
          <a:prstGeom prst="roundRect">
            <a:avLst>
              <a:gd name="adj" fmla="val 6000"/>
            </a:avLst>
          </a:prstGeom>
          <a:solidFill>
            <a:srgbClr val="F1F5F8"/>
          </a:solidFill>
          <a:ln w="12700">
            <a:solidFill>
              <a:srgbClr val="6B778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5166359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1F2A37"/>
                </a:solidFill>
                <a:latin typeface="Calibri"/>
              </a:rPr>
              <a:t>Automation / AI evidence</a:t>
            </a:r>
          </a:p>
          <a:p>
            <a:pPr algn="ctr">
              <a:spcAft>
                <a:spcPts val="400"/>
              </a:spcAft>
            </a:pPr>
            <a:r>
              <a:rPr sz="1100" b="0" i="1">
                <a:solidFill>
                  <a:srgbClr val="6B7785"/>
                </a:solidFill>
                <a:latin typeface="Calibri"/>
              </a:rPr>
              <a:t>[screenshot of the site-automation inputs and outputs, and of the analysis panel. Malak]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 dirty="0">
                <a:solidFill>
                  <a:srgbClr val="6B7785"/>
                </a:solidFill>
                <a:latin typeface="Calibri"/>
              </a:rPr>
              <a:t>DRAFT · owner: Malak (due Saturday) · needs: sub-site, intervention, before/after screenshots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30309A5-0B87-0A5A-0DE7-D94020459E33}"/>
              </a:ext>
            </a:extLst>
          </p:cNvPr>
          <p:cNvSpPr/>
          <p:nvPr/>
        </p:nvSpPr>
        <p:spPr>
          <a:xfrm>
            <a:off x="246434" y="1307592"/>
            <a:ext cx="9863847" cy="5158383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F7C8A"/>
                </a:solidFill>
                <a:latin typeface="Calibri"/>
              </a:rPr>
              <a:t>SLIDE 5 · BEFORE / AFTER AND ALIGNMENT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4243B"/>
                </a:solidFill>
                <a:latin typeface="Cambria"/>
              </a:rPr>
              <a:t>Expected impact, and how it aligns with the frameworks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6217920" cy="2606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Indicator</a:t>
                      </a:r>
                    </a:p>
                  </a:txBody>
                  <a:tcPr anchor="ctr">
                    <a:solidFill>
                      <a:srgbClr val="14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Before</a:t>
                      </a:r>
                    </a:p>
                  </a:txBody>
                  <a:tcPr anchor="ctr">
                    <a:solidFill>
                      <a:srgbClr val="14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After</a:t>
                      </a:r>
                    </a:p>
                  </a:txBody>
                  <a:tcPr anchor="ctr">
                    <a:solidFill>
                      <a:srgbClr val="14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anchor="ctr">
                    <a:solidFill>
                      <a:srgbClr val="1424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200" b="1" i="1">
                          <a:solidFill>
                            <a:srgbClr val="8A5500"/>
                          </a:solidFill>
                          <a:latin typeface="Calibri"/>
                        </a:rPr>
                        <a:t>[Indicator 1 from slide 3]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1">
                          <a:solidFill>
                            <a:srgbClr val="8A5500"/>
                          </a:solidFill>
                          <a:latin typeface="Calibri"/>
                        </a:rPr>
                        <a:t>[value]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1">
                          <a:solidFill>
                            <a:srgbClr val="8A5500"/>
                          </a:solidFill>
                          <a:latin typeface="Calibri"/>
                        </a:rPr>
                        <a:t>[value]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1">
                          <a:solidFill>
                            <a:srgbClr val="8A5500"/>
                          </a:solidFill>
                          <a:latin typeface="Calibri"/>
                        </a:rPr>
                        <a:t>[ArcGIS]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200" b="1" i="1">
                          <a:solidFill>
                            <a:srgbClr val="8A5500"/>
                          </a:solidFill>
                          <a:latin typeface="Calibri"/>
                        </a:rPr>
                        <a:t>[Forma output 1]</a:t>
                      </a:r>
                    </a:p>
                  </a:txBody>
                  <a:tcPr anchor="ctr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1">
                          <a:solidFill>
                            <a:srgbClr val="8A5500"/>
                          </a:solidFill>
                          <a:latin typeface="Calibri"/>
                        </a:rPr>
                        <a:t>[value]</a:t>
                      </a:r>
                    </a:p>
                  </a:txBody>
                  <a:tcPr anchor="ctr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1">
                          <a:solidFill>
                            <a:srgbClr val="8A5500"/>
                          </a:solidFill>
                          <a:latin typeface="Calibri"/>
                        </a:rPr>
                        <a:t>[value]</a:t>
                      </a:r>
                    </a:p>
                  </a:txBody>
                  <a:tcPr anchor="ctr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1">
                          <a:solidFill>
                            <a:srgbClr val="8A5500"/>
                          </a:solidFill>
                          <a:latin typeface="Calibri"/>
                        </a:rPr>
                        <a:t>[Forma]</a:t>
                      </a:r>
                    </a:p>
                  </a:txBody>
                  <a:tcPr anchor="ctr">
                    <a:solidFill>
                      <a:srgbClr val="F1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200" b="1" i="1">
                          <a:solidFill>
                            <a:srgbClr val="8A5500"/>
                          </a:solidFill>
                          <a:latin typeface="Calibri"/>
                        </a:rPr>
                        <a:t>[Carbon KPI]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1">
                          <a:solidFill>
                            <a:srgbClr val="8A5500"/>
                          </a:solidFill>
                          <a:latin typeface="Calibri"/>
                        </a:rPr>
                        <a:t>[value]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1">
                          <a:solidFill>
                            <a:srgbClr val="8A5500"/>
                          </a:solidFill>
                          <a:latin typeface="Calibri"/>
                        </a:rPr>
                        <a:t>[value]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1">
                          <a:solidFill>
                            <a:srgbClr val="8A5500"/>
                          </a:solidFill>
                          <a:latin typeface="Calibri"/>
                        </a:rPr>
                        <a:t>[Forma]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949440" y="1508760"/>
            <a:ext cx="4663440" cy="960120"/>
          </a:xfrm>
          <a:prstGeom prst="roundRect">
            <a:avLst>
              <a:gd name="adj" fmla="val 6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78040" y="1554480"/>
            <a:ext cx="429768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0F7C8A"/>
                </a:solidFill>
                <a:latin typeface="Calibri"/>
              </a:rPr>
              <a:t>SDG 11 or ESG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8A5500"/>
                </a:solidFill>
                <a:latin typeface="Calibri"/>
              </a:rPr>
              <a:t>[choose one, then name the target, e.g. SDG 11 resilience target]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2606039"/>
            <a:ext cx="4663440" cy="960120"/>
          </a:xfrm>
          <a:prstGeom prst="roundRect">
            <a:avLst>
              <a:gd name="adj" fmla="val 6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78040" y="2651759"/>
            <a:ext cx="429768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0F7C8A"/>
                </a:solidFill>
                <a:latin typeface="Calibri"/>
              </a:rPr>
              <a:t>Carbon KPIs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8A5500"/>
                </a:solidFill>
                <a:latin typeface="Calibri"/>
              </a:rPr>
              <a:t>[embodied / operational / whole-life figure and how it was obtained]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3703320"/>
            <a:ext cx="4663440" cy="960120"/>
          </a:xfrm>
          <a:prstGeom prst="roundRect">
            <a:avLst>
              <a:gd name="adj" fmla="val 6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78040" y="3749039"/>
            <a:ext cx="429768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0F7C8A"/>
                </a:solidFill>
                <a:latin typeface="Calibri"/>
              </a:rPr>
              <a:t>LEED ND or BREEAM Communities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8A5500"/>
                </a:solidFill>
                <a:latin typeface="Calibri"/>
              </a:rPr>
              <a:t>[choose one; name the credit(s) the intervention supports. Verify credit references]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029200"/>
            <a:ext cx="11064240" cy="1097280"/>
          </a:xfrm>
          <a:prstGeom prst="roundRect">
            <a:avLst>
              <a:gd name="adj" fmla="val 6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5074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F7C8A"/>
                </a:solidFill>
                <a:latin typeface="Calibri"/>
              </a:rPr>
              <a:t>Whole-life caveat: </a:t>
            </a:r>
            <a:r>
              <a:rPr sz="1300" b="0" i="1">
                <a:solidFill>
                  <a:srgbClr val="8A5500"/>
                </a:solidFill>
                <a:latin typeface="Calibri"/>
              </a:rPr>
              <a:t>[embodied carbon of the intervention vs. operational benefit; one honest sentence. Osama]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7785"/>
                </a:solidFill>
                <a:latin typeface="Calibri"/>
              </a:rPr>
              <a:t>DRAFT · owner: Osama (impact) + Malak (numbers) · the brief requires all three framework rows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1C27929-F08F-DD84-E945-D7EF7B7B8F2F}"/>
              </a:ext>
            </a:extLst>
          </p:cNvPr>
          <p:cNvSpPr/>
          <p:nvPr/>
        </p:nvSpPr>
        <p:spPr>
          <a:xfrm>
            <a:off x="357978" y="298316"/>
            <a:ext cx="11117741" cy="6167660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4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7FD1DB"/>
                </a:solidFill>
                <a:latin typeface="Calibri"/>
              </a:rPr>
              <a:t>SLIDE 6 · DECISION AND LIMITS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mbria"/>
              </a:rPr>
              <a:t>Our recommendation, and what we could not measure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11064240" cy="868680"/>
          </a:xfrm>
          <a:prstGeom prst="roundRect">
            <a:avLst>
              <a:gd name="adj" fmla="val 6000"/>
            </a:avLst>
          </a:prstGeom>
          <a:solidFill>
            <a:srgbClr val="223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481328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7FD1DB"/>
                </a:solidFill>
                <a:latin typeface="Calibri"/>
              </a:rPr>
              <a:t>Recommended decision: </a:t>
            </a:r>
            <a:r>
              <a:rPr sz="1500" b="0" i="1">
                <a:solidFill>
                  <a:srgbClr val="FFD99A"/>
                </a:solidFill>
                <a:latin typeface="Calibri"/>
              </a:rPr>
              <a:t>[proceed with X on segment Y, because indicator Z moves from A to B]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560320"/>
          <a:ext cx="1106424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Indicator</a:t>
                      </a:r>
                    </a:p>
                  </a:txBody>
                  <a:tcPr anchor="ctr">
                    <a:solidFill>
                      <a:srgbClr val="2237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Named instrument</a:t>
                      </a:r>
                    </a:p>
                  </a:txBody>
                  <a:tcPr anchor="ctr">
                    <a:solidFill>
                      <a:srgbClr val="2237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Named verifier</a:t>
                      </a:r>
                    </a:p>
                  </a:txBody>
                  <a:tcPr anchor="ctr">
                    <a:solidFill>
                      <a:srgbClr val="2237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Gap we could not close</a:t>
                      </a:r>
                    </a:p>
                  </a:txBody>
                  <a:tcPr anchor="ctr">
                    <a:solidFill>
                      <a:srgbClr val="2237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Walk access to schools</a:t>
                      </a:r>
                    </a:p>
                  </a:txBody>
                  <a:tcPr anchor="ctr">
                    <a:solidFill>
                      <a:srgbClr val="2B42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FFFFF"/>
                          </a:solidFill>
                          <a:latin typeface="Calibri"/>
                        </a:rPr>
                        <a:t>ArcGIS Generate Travel Areas, 10-min walk</a:t>
                      </a:r>
                    </a:p>
                  </a:txBody>
                  <a:tcPr anchor="ctr">
                    <a:solidFill>
                      <a:srgbClr val="2B42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1">
                          <a:solidFill>
                            <a:srgbClr val="FFFFFF"/>
                          </a:solidFill>
                          <a:latin typeface="Calibri"/>
                        </a:rPr>
                        <a:t>[team to name, e.g. CCC GIS]</a:t>
                      </a:r>
                    </a:p>
                  </a:txBody>
                  <a:tcPr anchor="ctr">
                    <a:solidFill>
                      <a:srgbClr val="2B42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FFFFF"/>
                          </a:solidFill>
                          <a:latin typeface="Calibri"/>
                        </a:rPr>
                        <a:t>Catchments run without flood barriers; schools only, no health layer</a:t>
                      </a:r>
                    </a:p>
                  </a:txBody>
                  <a:tcPr anchor="ctr">
                    <a:solidFill>
                      <a:srgbClr val="2B42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Road exits in a tidal event</a:t>
                      </a:r>
                    </a:p>
                  </a:txBody>
                  <a:tcPr anchor="ctr">
                    <a:solidFill>
                      <a:srgbClr val="2237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FFFFF"/>
                          </a:solidFill>
                          <a:latin typeface="Calibri"/>
                        </a:rPr>
                        <a:t>CCC flood layers overlay</a:t>
                      </a:r>
                    </a:p>
                  </a:txBody>
                  <a:tcPr anchor="ctr">
                    <a:solidFill>
                      <a:srgbClr val="2237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1">
                          <a:solidFill>
                            <a:srgbClr val="FFFFFF"/>
                          </a:solidFill>
                          <a:latin typeface="Calibri"/>
                        </a:rPr>
                        <a:t>[team to name]</a:t>
                      </a:r>
                    </a:p>
                  </a:txBody>
                  <a:tcPr anchor="ctr">
                    <a:solidFill>
                      <a:srgbClr val="2237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FFFFF"/>
                          </a:solidFill>
                          <a:latin typeface="Calibri"/>
                        </a:rPr>
                        <a:t>No road-flood modelling</a:t>
                      </a:r>
                    </a:p>
                  </a:txBody>
                  <a:tcPr anchor="ctr">
                    <a:solidFill>
                      <a:srgbClr val="2237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Minutes to safe junction</a:t>
                      </a:r>
                    </a:p>
                  </a:txBody>
                  <a:tcPr anchor="ctr">
                    <a:solidFill>
                      <a:srgbClr val="2B42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FFFFF"/>
                          </a:solidFill>
                          <a:latin typeface="Calibri"/>
                        </a:rPr>
                        <a:t>ArcGIS route analysis</a:t>
                      </a:r>
                    </a:p>
                  </a:txBody>
                  <a:tcPr anchor="ctr">
                    <a:solidFill>
                      <a:srgbClr val="2B42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1">
                          <a:solidFill>
                            <a:srgbClr val="FFFFFF"/>
                          </a:solidFill>
                          <a:latin typeface="Calibri"/>
                        </a:rPr>
                        <a:t>[team to name]</a:t>
                      </a:r>
                    </a:p>
                  </a:txBody>
                  <a:tcPr anchor="ctr">
                    <a:solidFill>
                      <a:srgbClr val="2B42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FFFFFF"/>
                          </a:solidFill>
                          <a:latin typeface="Calibri"/>
                        </a:rPr>
                        <a:t>Evacuation routing not run yet (credit limit)</a:t>
                      </a:r>
                    </a:p>
                  </a:txBody>
                  <a:tcPr anchor="ctr">
                    <a:solidFill>
                      <a:srgbClr val="2B42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62356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C7D2DE"/>
                </a:solidFill>
                <a:latin typeface="Calibri"/>
              </a:rPr>
              <a:t>Also disclose: Map Viewer AI assistant not enabled by the org; prompting was done with an external assistant. Walk catchments were run for 13 east Christchurch schools only (credit cap).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A9B6C4"/>
                </a:solidFill>
                <a:latin typeface="Calibri"/>
              </a:rPr>
              <a:t>DRAFT · owner: Osama (critic) + Leticia · verifiers are placeholders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38BC63D-CF0C-C455-AB1B-5F163E8B8B42}"/>
              </a:ext>
            </a:extLst>
          </p:cNvPr>
          <p:cNvSpPr/>
          <p:nvPr/>
        </p:nvSpPr>
        <p:spPr>
          <a:xfrm>
            <a:off x="357978" y="298316"/>
            <a:ext cx="11117741" cy="6167660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F7C8A"/>
                </a:solidFill>
                <a:latin typeface="Calibri"/>
              </a:rPr>
              <a:t>DELETE THIS SLIDE IF APPENDICES COUNT TOWARD THE 6-SLIDE LIMIT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4243B"/>
                </a:solidFill>
                <a:latin typeface="Cambria"/>
              </a:rPr>
              <a:t>APPENDIX: AI prompt log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3566160" cy="2103120"/>
          </a:xfrm>
          <a:prstGeom prst="roundRect">
            <a:avLst>
              <a:gd name="adj" fmla="val 6000"/>
            </a:avLst>
          </a:prstGeom>
          <a:solidFill>
            <a:srgbClr val="F1F5F8"/>
          </a:solidFill>
          <a:ln w="12700">
            <a:solidFill>
              <a:srgbClr val="6B778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3200400" cy="192023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1F2A37"/>
                </a:solidFill>
                <a:latin typeface="Calibri"/>
              </a:rPr>
              <a:t>ArcGIS prompt 1</a:t>
            </a:r>
          </a:p>
          <a:p>
            <a:pPr algn="ctr">
              <a:spcAft>
                <a:spcPts val="400"/>
              </a:spcAft>
            </a:pPr>
            <a:r>
              <a:rPr sz="1100" b="0" i="1">
                <a:solidFill>
                  <a:srgbClr val="6B7785"/>
                </a:solidFill>
                <a:latin typeface="Calibri"/>
              </a:rPr>
              <a:t>[screenshot + one-line outcome. Shane]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79" y="1554480"/>
            <a:ext cx="3566160" cy="2103120"/>
          </a:xfrm>
          <a:prstGeom prst="roundRect">
            <a:avLst>
              <a:gd name="adj" fmla="val 6000"/>
            </a:avLst>
          </a:prstGeom>
          <a:solidFill>
            <a:srgbClr val="F1F5F8"/>
          </a:solidFill>
          <a:ln w="12700">
            <a:solidFill>
              <a:srgbClr val="6B778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480559" y="1645920"/>
            <a:ext cx="3200400" cy="192023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1F2A37"/>
                </a:solidFill>
                <a:latin typeface="Calibri"/>
              </a:rPr>
              <a:t>ArcGIS prompt 2</a:t>
            </a:r>
          </a:p>
          <a:p>
            <a:pPr algn="ctr">
              <a:spcAft>
                <a:spcPts val="400"/>
              </a:spcAft>
            </a:pPr>
            <a:r>
              <a:rPr sz="1100" b="0" i="1">
                <a:solidFill>
                  <a:srgbClr val="6B7785"/>
                </a:solidFill>
                <a:latin typeface="Calibri"/>
              </a:rPr>
              <a:t>[screenshot + one-line outcome. Shane]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19" y="1554480"/>
            <a:ext cx="3566160" cy="2103120"/>
          </a:xfrm>
          <a:prstGeom prst="roundRect">
            <a:avLst>
              <a:gd name="adj" fmla="val 6000"/>
            </a:avLst>
          </a:prstGeom>
          <a:solidFill>
            <a:srgbClr val="F1F5F8"/>
          </a:solidFill>
          <a:ln w="12700">
            <a:solidFill>
              <a:srgbClr val="6B778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9" y="1645920"/>
            <a:ext cx="3200400" cy="192023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1F2A37"/>
                </a:solidFill>
                <a:latin typeface="Calibri"/>
              </a:rPr>
              <a:t>ArcGIS prompt 3</a:t>
            </a:r>
          </a:p>
          <a:p>
            <a:pPr algn="ctr">
              <a:spcAft>
                <a:spcPts val="400"/>
              </a:spcAft>
            </a:pPr>
            <a:r>
              <a:rPr sz="1100" b="0" i="1">
                <a:solidFill>
                  <a:srgbClr val="6B7785"/>
                </a:solidFill>
                <a:latin typeface="Calibri"/>
              </a:rPr>
              <a:t>[screenshot + one-line outcome. Shane]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886200"/>
            <a:ext cx="3566160" cy="2103120"/>
          </a:xfrm>
          <a:prstGeom prst="roundRect">
            <a:avLst>
              <a:gd name="adj" fmla="val 6000"/>
            </a:avLst>
          </a:prstGeom>
          <a:solidFill>
            <a:srgbClr val="F1F5F8"/>
          </a:solidFill>
          <a:ln w="12700">
            <a:solidFill>
              <a:srgbClr val="6B778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3977639"/>
            <a:ext cx="3200400" cy="192023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1F2A37"/>
                </a:solidFill>
                <a:latin typeface="Calibri"/>
              </a:rPr>
              <a:t>Forma step 1</a:t>
            </a:r>
          </a:p>
          <a:p>
            <a:pPr algn="ctr">
              <a:spcAft>
                <a:spcPts val="400"/>
              </a:spcAft>
            </a:pPr>
            <a:r>
              <a:rPr sz="1100" b="0" i="1">
                <a:solidFill>
                  <a:srgbClr val="6B7785"/>
                </a:solidFill>
                <a:latin typeface="Calibri"/>
              </a:rPr>
              <a:t>[screenshot + one-line outcome. Malak]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79" y="3886200"/>
            <a:ext cx="3566160" cy="2103120"/>
          </a:xfrm>
          <a:prstGeom prst="roundRect">
            <a:avLst>
              <a:gd name="adj" fmla="val 6000"/>
            </a:avLst>
          </a:prstGeom>
          <a:solidFill>
            <a:srgbClr val="F1F5F8"/>
          </a:solidFill>
          <a:ln w="12700">
            <a:solidFill>
              <a:srgbClr val="6B778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80559" y="3977639"/>
            <a:ext cx="3200400" cy="192023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1F2A37"/>
                </a:solidFill>
                <a:latin typeface="Calibri"/>
              </a:rPr>
              <a:t>Forma step 2</a:t>
            </a:r>
          </a:p>
          <a:p>
            <a:pPr algn="ctr">
              <a:spcAft>
                <a:spcPts val="400"/>
              </a:spcAft>
            </a:pPr>
            <a:r>
              <a:rPr sz="1100" b="0" i="1">
                <a:solidFill>
                  <a:srgbClr val="6B7785"/>
                </a:solidFill>
                <a:latin typeface="Calibri"/>
              </a:rPr>
              <a:t>[screenshot + one-line outcome. Malak]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9" y="3886200"/>
            <a:ext cx="3566160" cy="2103120"/>
          </a:xfrm>
          <a:prstGeom prst="roundRect">
            <a:avLst>
              <a:gd name="adj" fmla="val 6000"/>
            </a:avLst>
          </a:prstGeom>
          <a:solidFill>
            <a:srgbClr val="F1F5F8"/>
          </a:solidFill>
          <a:ln w="12700">
            <a:solidFill>
              <a:srgbClr val="6B778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599" y="3977639"/>
            <a:ext cx="3200400" cy="192023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1F2A37"/>
                </a:solidFill>
                <a:latin typeface="Calibri"/>
              </a:rPr>
              <a:t>Forma step 3</a:t>
            </a:r>
          </a:p>
          <a:p>
            <a:pPr algn="ctr">
              <a:spcAft>
                <a:spcPts val="400"/>
              </a:spcAft>
            </a:pPr>
            <a:r>
              <a:rPr sz="1100" b="0" i="1">
                <a:solidFill>
                  <a:srgbClr val="6B7785"/>
                </a:solidFill>
                <a:latin typeface="Calibri"/>
              </a:rPr>
              <a:t>[screenshot + one-line outcome. Malak]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7785"/>
                </a:solidFill>
                <a:latin typeface="Calibri"/>
              </a:rPr>
              <a:t>DRAFT · check Canvas / coordinator whether an appendix is allowed, or submit this as a separate PDF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9F3D002-7FE1-5EFD-9B81-32CCFF0010F0}"/>
              </a:ext>
            </a:extLst>
          </p:cNvPr>
          <p:cNvSpPr/>
          <p:nvPr/>
        </p:nvSpPr>
        <p:spPr>
          <a:xfrm>
            <a:off x="357978" y="298316"/>
            <a:ext cx="11117741" cy="6167660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1177</Words>
  <Application>Microsoft Office PowerPoint</Application>
  <PresentationFormat>Widescreen</PresentationFormat>
  <Paragraphs>129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Letícia Cristovam Clemente</cp:lastModifiedBy>
  <cp:revision>1</cp:revision>
  <dcterms:created xsi:type="dcterms:W3CDTF">2013-01-27T09:14:16Z</dcterms:created>
  <dcterms:modified xsi:type="dcterms:W3CDTF">2026-09-25T19:03:06Z</dcterms:modified>
  <cp:category/>
</cp:coreProperties>
</file>